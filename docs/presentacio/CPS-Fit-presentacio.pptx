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Obertura. Frase clau: "Avui la rutina de cada soci és un paper. Us proposem digitalitzar-la, amb la imatge del club i en català."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Tots els abonats reben assessorament i una rutina personalitzada. És la base del servei i avui es fa en paper. La proposta digitalitza exactament això, no el substitueix.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Dues experiències dins del mateix projecte. El monitor treballa a l'ordinador; el soci, al mòbil. Si un monitor entra des del mòbil, veu un avís que el panell és només per a ordinador o tauleta.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(2 min): obrir l'app al mòbil → botó "Començar entrenament" → marcar una sèrie → es veu el temporitzador de descans → acabar i veure el resum amb rècords.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(3 min): iniciar sessió com a monitor → Rutines → obrir una plantilla → afegir un exercici → desar. Després, ficha d'un soci → assignar plantilla.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Dades de la demo: tots ficticis. El tauler del monitor avisa dels socis que porten 7 o més dies sense venir i de les rutines que caduquen.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 de venda: al gimnàs sovint hi ha poca cobertura. DEMO: posar el mòbil en mode avió, entrenar, tornar a activar la xarxa i veure que l'entrenament apareix al panell.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Sigues clar: avui només hi ha dades ficticies. Abans de carregar socis reals cal la revisió legal i els contractes d'encarregat del tractament amb els proveïdors.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substituïm el sistema de reserves ni de pagaments del club. L'app hi enllaça des de la pestanya "Club".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Els terminis són orientatius i depenen de la rapidesa del club en aportar comptes, textos i monitors disponibles per a la formació.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Els serveis es contracten directament amb els proveïdors, al nom del club: així les dades dels socis són del club i el club controla el cost. Preus dels serveis segons les seves webs en data d'octubre de 2026; poden variar.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Acaba proposant una data concreta per al pilot. Deixa la demo instal·lada al mòbil per si volen provar-la.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scut del C.P. Santjoanen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868680"/>
            <a:ext cx="3291840" cy="3291840"/>
          </a:xfrm>
          <a:prstGeom prst="rect">
            <a:avLst/>
          </a:prstGeom>
        </p:spPr>
      </p:pic>
      <p:sp>
        <p:nvSpPr>
          <p:cNvPr id="3" name="Títol"/>
          <p:cNvSpPr txBox="1"/>
          <p:nvPr/>
        </p:nvSpPr>
        <p:spPr>
          <a:xfrm>
            <a:off x="640080" y="11887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CPS </a:t>
            </a:r>
            <a:pPr indent="0" marL="0">
              <a:buNone/>
            </a:pPr>
            <a:r>
              <a:rPr lang="en-US" sz="6600" b="1" dirty="0">
                <a:solidFill>
                  <a:srgbClr val="F8F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</a:t>
            </a:r>
            <a:endParaRPr lang="en-US" sz="6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331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teu entrenament, al teu club.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0632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d'aplicació de rutines i seguiment per al gimnàs del Club Poliesportiu Santjoanenc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Avui, la rutina és un paper</a:t>
            </a:r>
            <a:endParaRPr lang="en-US" sz="3200" dirty="0"/>
          </a:p>
        </p:txBody>
      </p:sp>
      <p:sp>
        <p:nvSpPr>
          <p:cNvPr id="3" name="Targeta"/>
          <p:cNvSpPr/>
          <p:nvPr/>
        </p:nvSpPr>
        <p:spPr>
          <a:xfrm>
            <a:off x="548640" y="141732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Cercle icona"/>
          <p:cNvSpPr/>
          <p:nvPr/>
        </p:nvSpPr>
        <p:spPr>
          <a:xfrm>
            <a:off x="777240" y="1572768"/>
            <a:ext cx="603504" cy="603504"/>
          </a:xfrm>
          <a:prstGeom prst="ellipse">
            <a:avLst/>
          </a:prstGeom>
          <a:solidFill>
            <a:srgbClr val="E6E8FF"/>
          </a:solidFill>
          <a:ln w="12700">
            <a:solidFill>
              <a:srgbClr val="E6E8FF"/>
            </a:solidFill>
            <a:prstDash val="solid"/>
          </a:ln>
        </p:spPr>
      </p:sp>
      <p:pic>
        <p:nvPicPr>
          <p:cNvPr id="5" name="Image 0" descr="FaReg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186" y="1735714"/>
            <a:ext cx="277612" cy="2776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52704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perd, s'espatlla o queda desactualitzada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89280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canvi de rutina vol dir tornar a escriure-la a mà.</a:t>
            </a:r>
            <a:endParaRPr lang="en-US" sz="1400" dirty="0"/>
          </a:p>
        </p:txBody>
      </p:sp>
      <p:sp>
        <p:nvSpPr>
          <p:cNvPr id="8" name="Targeta"/>
          <p:cNvSpPr/>
          <p:nvPr/>
        </p:nvSpPr>
        <p:spPr>
          <a:xfrm>
            <a:off x="548640" y="251460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Cercle icona"/>
          <p:cNvSpPr/>
          <p:nvPr/>
        </p:nvSpPr>
        <p:spPr>
          <a:xfrm>
            <a:off x="777240" y="2670048"/>
            <a:ext cx="603504" cy="603504"/>
          </a:xfrm>
          <a:prstGeom prst="ellipse">
            <a:avLst/>
          </a:prstGeom>
          <a:solidFill>
            <a:srgbClr val="E6E8FF"/>
          </a:solidFill>
          <a:ln w="12700">
            <a:solidFill>
              <a:srgbClr val="E6E8FF"/>
            </a:solidFill>
            <a:prstDash val="solid"/>
          </a:ln>
        </p:spPr>
      </p:sp>
      <p:pic>
        <p:nvPicPr>
          <p:cNvPr id="10" name="Image 1" descr="FaEyeSla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86" y="2832994"/>
            <a:ext cx="277612" cy="2776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262432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monitor no veu l'evolució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600200" y="299008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dades, és difícil saber qui progressa i qui ha deixat de venir.</a:t>
            </a:r>
            <a:endParaRPr lang="en-US" sz="1400" dirty="0"/>
          </a:p>
        </p:txBody>
      </p:sp>
      <p:sp>
        <p:nvSpPr>
          <p:cNvPr id="13" name="Targeta"/>
          <p:cNvSpPr/>
          <p:nvPr/>
        </p:nvSpPr>
        <p:spPr>
          <a:xfrm>
            <a:off x="548640" y="361188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Cercle icona"/>
          <p:cNvSpPr/>
          <p:nvPr/>
        </p:nvSpPr>
        <p:spPr>
          <a:xfrm>
            <a:off x="777240" y="3767328"/>
            <a:ext cx="603504" cy="603504"/>
          </a:xfrm>
          <a:prstGeom prst="ellipse">
            <a:avLst/>
          </a:prstGeom>
          <a:solidFill>
            <a:srgbClr val="E6E8FF"/>
          </a:solidFill>
          <a:ln w="12700">
            <a:solidFill>
              <a:srgbClr val="E6E8FF"/>
            </a:solidFill>
            <a:prstDash val="solid"/>
          </a:ln>
        </p:spPr>
      </p:sp>
      <p:pic>
        <p:nvPicPr>
          <p:cNvPr id="15" name="Image 2" descr="FaHist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186" y="3930274"/>
            <a:ext cx="277612" cy="2776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72160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soci no recorda què va fer l'última vegada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408736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pesos i repeticions es perden entre sessió i sessió.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app per al soci, un panell per al monitor</a:t>
            </a:r>
            <a:endParaRPr lang="en-US" sz="3200" dirty="0"/>
          </a:p>
        </p:txBody>
      </p:sp>
      <p:sp>
        <p:nvSpPr>
          <p:cNvPr id="3" name="Targeta"/>
          <p:cNvSpPr/>
          <p:nvPr/>
        </p:nvSpPr>
        <p:spPr>
          <a:xfrm>
            <a:off x="548640" y="137160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F5F6FB"/>
          </a:solidFill>
          <a:ln w="9525">
            <a:solidFill>
              <a:srgbClr val="D9DCEC"/>
            </a:solidFill>
            <a:prstDash val="solid"/>
          </a:ln>
        </p:spPr>
      </p:sp>
      <p:sp>
        <p:nvSpPr>
          <p:cNvPr id="4" name="Cercle icona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2030FF"/>
          </a:solidFill>
          <a:ln w="12700">
            <a:solidFill>
              <a:srgbClr val="2030FF"/>
            </a:solidFill>
            <a:prstDash val="solid"/>
          </a:ln>
        </p:spPr>
      </p:sp>
      <p:pic>
        <p:nvPicPr>
          <p:cNvPr id="5" name="Image 0" descr="FaMob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797710"/>
            <a:ext cx="336499" cy="33649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276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del soci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S'instal·la al mòbil, sense botiga d'apps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rutina que li ha preparat el monitor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 amb temporitzador de descans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Veu el seu progrés i els seus rècords</a:t>
            </a:r>
            <a:endParaRPr lang="en-US" sz="1500" dirty="0"/>
          </a:p>
        </p:txBody>
      </p:sp>
      <p:sp>
        <p:nvSpPr>
          <p:cNvPr id="9" name="Targeta"/>
          <p:cNvSpPr/>
          <p:nvPr/>
        </p:nvSpPr>
        <p:spPr>
          <a:xfrm>
            <a:off x="4663440" y="137160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F5F6FB"/>
          </a:solidFill>
          <a:ln w="9525">
            <a:solidFill>
              <a:srgbClr val="D9DCEC"/>
            </a:solidFill>
            <a:prstDash val="solid"/>
          </a:ln>
        </p:spPr>
      </p:sp>
      <p:sp>
        <p:nvSpPr>
          <p:cNvPr id="10" name="Cercle icona"/>
          <p:cNvSpPr/>
          <p:nvPr/>
        </p:nvSpPr>
        <p:spPr>
          <a:xfrm>
            <a:off x="4937760" y="1600200"/>
            <a:ext cx="731520" cy="731520"/>
          </a:xfrm>
          <a:prstGeom prst="ellipse">
            <a:avLst/>
          </a:prstGeom>
          <a:solidFill>
            <a:srgbClr val="2030FF"/>
          </a:solidFill>
          <a:ln w="12700">
            <a:solidFill>
              <a:srgbClr val="2030FF"/>
            </a:solidFill>
            <a:prstDash val="solid"/>
          </a:ln>
        </p:spPr>
      </p:sp>
      <p:pic>
        <p:nvPicPr>
          <p:cNvPr id="11" name="Image 1" descr="FaDeskt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270" y="1797710"/>
            <a:ext cx="336499" cy="3364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52160" y="16276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 del monitor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585216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fa servir des de l'ordinador o la tauleta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28346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i assigna rutines en pocs clics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Segueix l'assistència i l'evolució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 dubtes i publica avisos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"/>
          <p:cNvSpPr txBox="1"/>
          <p:nvPr/>
        </p:nvSpPr>
        <p:spPr>
          <a:xfrm>
            <a:off x="548640" y="3657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soci entrena sense pensar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sessió d'avui, amb un sol botó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pes i repeticions i veu l'última vegada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 automàtic amb avís sonor i vibració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Rècords personals i ratxa setmanal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 crear o duplicar les seves pròpies rutines</a:t>
            </a:r>
            <a:endParaRPr lang="en-US" sz="1600" dirty="0"/>
          </a:p>
        </p:txBody>
      </p:sp>
      <p:sp>
        <p:nvSpPr>
          <p:cNvPr id="4" name="Marc captura"/>
          <p:cNvSpPr/>
          <p:nvPr/>
        </p:nvSpPr>
        <p:spPr>
          <a:xfrm>
            <a:off x="4928616" y="356616"/>
            <a:ext cx="1911096" cy="3803904"/>
          </a:xfrm>
          <a:prstGeom prst="roundRect">
            <a:avLst>
              <a:gd name="adj" fmla="val 5742"/>
            </a:avLst>
          </a:prstGeom>
          <a:solidFill>
            <a:srgbClr val="FFFFFF"/>
          </a:solidFill>
          <a:ln w="9525">
            <a:solidFill>
              <a:srgbClr val="D9DCE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aptura de la app CPS F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411480"/>
            <a:ext cx="1801368" cy="3694176"/>
          </a:xfrm>
          <a:prstGeom prst="rect">
            <a:avLst/>
          </a:prstGeom>
        </p:spPr>
      </p:pic>
      <p:sp>
        <p:nvSpPr>
          <p:cNvPr id="6" name="Marc captura"/>
          <p:cNvSpPr/>
          <p:nvPr/>
        </p:nvSpPr>
        <p:spPr>
          <a:xfrm>
            <a:off x="6894576" y="813816"/>
            <a:ext cx="1911096" cy="3803904"/>
          </a:xfrm>
          <a:prstGeom prst="roundRect">
            <a:avLst>
              <a:gd name="adj" fmla="val 5742"/>
            </a:avLst>
          </a:prstGeom>
          <a:solidFill>
            <a:srgbClr val="FFFFFF"/>
          </a:solidFill>
          <a:ln w="9525">
            <a:solidFill>
              <a:srgbClr val="D9DCE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Captura de la app CPS F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868680"/>
            <a:ext cx="1801368" cy="36941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monitor ho té tot controlat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de rutines: arrossega i deixa anar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exercicis en català i castellà, editables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Plantilles i assignació a diversos socis alhora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de rutina sense perdre l'historial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Comentaris amb els socis i avisos del gimnàs</a:t>
            </a:r>
            <a:endParaRPr lang="en-US" sz="1600" dirty="0"/>
          </a:p>
        </p:txBody>
      </p:sp>
      <p:sp>
        <p:nvSpPr>
          <p:cNvPr id="4" name="Marc captura"/>
          <p:cNvSpPr/>
          <p:nvPr/>
        </p:nvSpPr>
        <p:spPr>
          <a:xfrm>
            <a:off x="4014216" y="1271016"/>
            <a:ext cx="4681728" cy="2862072"/>
          </a:xfrm>
          <a:prstGeom prst="roundRect">
            <a:avLst>
              <a:gd name="adj" fmla="val 3834"/>
            </a:avLst>
          </a:prstGeom>
          <a:solidFill>
            <a:srgbClr val="FFFFFF"/>
          </a:solidFill>
          <a:ln w="9525">
            <a:solidFill>
              <a:srgbClr val="D9DCE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Captura de la app CPS F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325880"/>
            <a:ext cx="4572000" cy="27523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069080" y="4343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monitor només veu els seus socis; l'administració ho veu tot.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"/>
          <p:cNvSpPr txBox="1"/>
          <p:nvPr/>
        </p:nvSpPr>
        <p:spPr>
          <a:xfrm>
            <a:off x="548640" y="3657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Seguiment amb dades, no a ull</a:t>
            </a:r>
            <a:endParaRPr lang="en-US" sz="3000" dirty="0"/>
          </a:p>
        </p:txBody>
      </p:sp>
      <p:sp>
        <p:nvSpPr>
          <p:cNvPr id="3" name="Dada"/>
          <p:cNvSpPr/>
          <p:nvPr/>
        </p:nvSpPr>
        <p:spPr>
          <a:xfrm>
            <a:off x="548640" y="1508760"/>
            <a:ext cx="1261872" cy="137160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D9DC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03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228600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exercicis de sala</a:t>
            </a:r>
            <a:endParaRPr lang="en-US" sz="1200" dirty="0"/>
          </a:p>
        </p:txBody>
      </p:sp>
      <p:sp>
        <p:nvSpPr>
          <p:cNvPr id="6" name="Dada"/>
          <p:cNvSpPr/>
          <p:nvPr/>
        </p:nvSpPr>
        <p:spPr>
          <a:xfrm>
            <a:off x="1920240" y="1508760"/>
            <a:ext cx="1261872" cy="137160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D9DC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20240" y="160020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03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993392" y="228600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plantilles de rutina</a:t>
            </a:r>
            <a:endParaRPr lang="en-US" sz="1200" dirty="0"/>
          </a:p>
        </p:txBody>
      </p:sp>
      <p:sp>
        <p:nvSpPr>
          <p:cNvPr id="9" name="Dada"/>
          <p:cNvSpPr/>
          <p:nvPr/>
        </p:nvSpPr>
        <p:spPr>
          <a:xfrm>
            <a:off x="3291840" y="1508760"/>
            <a:ext cx="1261872" cy="137160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9525">
            <a:solidFill>
              <a:srgbClr val="D9DC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60020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03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364992" y="2286000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idiomes: català i castellà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10896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Gràfiques per exercici i 1RM estimat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Assistència i adherència a la rutina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corporals i fotos opcionals i privades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Socis que fa dies que no vénen, a la vista</a:t>
            </a:r>
            <a:endParaRPr lang="en-US" sz="1400" dirty="0"/>
          </a:p>
        </p:txBody>
      </p:sp>
      <p:sp>
        <p:nvSpPr>
          <p:cNvPr id="13" name="Marc captura"/>
          <p:cNvSpPr/>
          <p:nvPr/>
        </p:nvSpPr>
        <p:spPr>
          <a:xfrm>
            <a:off x="5614416" y="310896"/>
            <a:ext cx="2350008" cy="4700016"/>
          </a:xfrm>
          <a:prstGeom prst="roundRect">
            <a:avLst>
              <a:gd name="adj" fmla="val 4669"/>
            </a:avLst>
          </a:prstGeom>
          <a:solidFill>
            <a:srgbClr val="FFFFFF"/>
          </a:solidFill>
          <a:ln w="9525">
            <a:solidFill>
              <a:srgbClr val="D9DCE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0" descr="Captura de la app CPS F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365760"/>
            <a:ext cx="22402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també sense cobertura</a:t>
            </a:r>
            <a:endParaRPr lang="en-US" sz="3200" dirty="0"/>
          </a:p>
        </p:txBody>
      </p:sp>
      <p:sp>
        <p:nvSpPr>
          <p:cNvPr id="3" name="Pas"/>
          <p:cNvSpPr/>
          <p:nvPr/>
        </p:nvSpPr>
        <p:spPr>
          <a:xfrm>
            <a:off x="548640" y="146304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151937"/>
          </a:solidFill>
          <a:ln w="9525">
            <a:solidFill>
              <a:srgbClr val="2A3070"/>
            </a:solidFill>
            <a:prstDash val="solid"/>
          </a:ln>
        </p:spPr>
      </p:sp>
      <p:sp>
        <p:nvSpPr>
          <p:cNvPr id="4" name="Cercle icona"/>
          <p:cNvSpPr/>
          <p:nvPr/>
        </p:nvSpPr>
        <p:spPr>
          <a:xfrm>
            <a:off x="777240" y="1691640"/>
            <a:ext cx="685800" cy="685800"/>
          </a:xfrm>
          <a:prstGeom prst="ellipse">
            <a:avLst/>
          </a:prstGeom>
          <a:solidFill>
            <a:srgbClr val="F8F800"/>
          </a:solidFill>
          <a:ln w="12700">
            <a:solidFill>
              <a:srgbClr val="F8F800"/>
            </a:solidFill>
            <a:prstDash val="solid"/>
          </a:ln>
        </p:spPr>
      </p:sp>
      <p:pic>
        <p:nvPicPr>
          <p:cNvPr id="5" name="Image 0" descr="FaWif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" y="1876806"/>
            <a:ext cx="315468" cy="3154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4688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A4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 xarxa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718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desa la rutina al mòbil del soci.</a:t>
            </a:r>
            <a:endParaRPr lang="en-US" sz="1400" dirty="0"/>
          </a:p>
        </p:txBody>
      </p:sp>
      <p:sp>
        <p:nvSpPr>
          <p:cNvPr id="9" name="Pas"/>
          <p:cNvSpPr/>
          <p:nvPr/>
        </p:nvSpPr>
        <p:spPr>
          <a:xfrm>
            <a:off x="3337560" y="146304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151937"/>
          </a:solidFill>
          <a:ln w="9525">
            <a:solidFill>
              <a:srgbClr val="2A3070"/>
            </a:solidFill>
            <a:prstDash val="solid"/>
          </a:ln>
        </p:spPr>
      </p:sp>
      <p:sp>
        <p:nvSpPr>
          <p:cNvPr id="10" name="Cercle icona"/>
          <p:cNvSpPr/>
          <p:nvPr/>
        </p:nvSpPr>
        <p:spPr>
          <a:xfrm>
            <a:off x="3566160" y="1691640"/>
            <a:ext cx="685800" cy="685800"/>
          </a:xfrm>
          <a:prstGeom prst="ellipse">
            <a:avLst/>
          </a:prstGeom>
          <a:solidFill>
            <a:srgbClr val="F8F800"/>
          </a:solidFill>
          <a:ln w="12700">
            <a:solidFill>
              <a:srgbClr val="F8F800"/>
            </a:solidFill>
            <a:prstDash val="solid"/>
          </a:ln>
        </p:spPr>
      </p:sp>
      <p:pic>
        <p:nvPicPr>
          <p:cNvPr id="11" name="Image 1" descr="FaDumbbe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326" y="1876806"/>
            <a:ext cx="315468" cy="3154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A4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 xarxa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29718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 i registra les sèries amb normalitat.</a:t>
            </a:r>
            <a:endParaRPr lang="en-US" sz="1400" dirty="0"/>
          </a:p>
        </p:txBody>
      </p:sp>
      <p:sp>
        <p:nvSpPr>
          <p:cNvPr id="15" name="Pas"/>
          <p:cNvSpPr/>
          <p:nvPr/>
        </p:nvSpPr>
        <p:spPr>
          <a:xfrm>
            <a:off x="6126480" y="146304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151937"/>
          </a:solidFill>
          <a:ln w="9525">
            <a:solidFill>
              <a:srgbClr val="2A3070"/>
            </a:solidFill>
            <a:prstDash val="solid"/>
          </a:ln>
        </p:spPr>
      </p:sp>
      <p:sp>
        <p:nvSpPr>
          <p:cNvPr id="16" name="Cercle icona"/>
          <p:cNvSpPr/>
          <p:nvPr/>
        </p:nvSpPr>
        <p:spPr>
          <a:xfrm>
            <a:off x="6355080" y="1691640"/>
            <a:ext cx="685800" cy="685800"/>
          </a:xfrm>
          <a:prstGeom prst="ellipse">
            <a:avLst/>
          </a:prstGeom>
          <a:solidFill>
            <a:srgbClr val="F8F800"/>
          </a:solidFill>
          <a:ln w="12700">
            <a:solidFill>
              <a:srgbClr val="F8F800"/>
            </a:solidFill>
            <a:prstDash val="solid"/>
          </a:ln>
        </p:spPr>
      </p:sp>
      <p:pic>
        <p:nvPicPr>
          <p:cNvPr id="17" name="Image 2" descr="FaSync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246" y="1876806"/>
            <a:ext cx="315468" cy="3154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0467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A4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recuperar-la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297180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entrenaments s'envien sols, sense duplicats.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 amb proves automàtiques que tallen la connexió durant l'entrenament.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Privacitat des del primer dia</a:t>
            </a:r>
            <a:endParaRPr lang="en-US" sz="3200" dirty="0"/>
          </a:p>
        </p:txBody>
      </p:sp>
      <p:sp>
        <p:nvSpPr>
          <p:cNvPr id="3" name="Targeta"/>
          <p:cNvSpPr/>
          <p:nvPr/>
        </p:nvSpPr>
        <p:spPr>
          <a:xfrm>
            <a:off x="548640" y="137160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5F6FB"/>
          </a:solidFill>
          <a:ln w="9525">
            <a:solidFill>
              <a:srgbClr val="D9DCEC"/>
            </a:solidFill>
            <a:prstDash val="solid"/>
          </a:ln>
        </p:spPr>
      </p:sp>
      <p:sp>
        <p:nvSpPr>
          <p:cNvPr id="4" name="Cercle icona"/>
          <p:cNvSpPr/>
          <p:nvPr/>
        </p:nvSpPr>
        <p:spPr>
          <a:xfrm>
            <a:off x="777240" y="1645920"/>
            <a:ext cx="685800" cy="685800"/>
          </a:xfrm>
          <a:prstGeom prst="ellipse">
            <a:avLst/>
          </a:prstGeom>
          <a:solidFill>
            <a:srgbClr val="2030FF"/>
          </a:solidFill>
          <a:ln w="12700">
            <a:solidFill>
              <a:srgbClr val="2030FF"/>
            </a:solidFill>
            <a:prstDash val="solid"/>
          </a:ln>
        </p:spPr>
      </p:sp>
      <p:pic>
        <p:nvPicPr>
          <p:cNvPr id="5" name="Image 0" descr="FaGlobeEuro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" y="1831086"/>
            <a:ext cx="315468" cy="3154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276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Dades a la Unió Europea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9933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Servidors a París.</a:t>
            </a:r>
            <a:endParaRPr lang="en-US" sz="1300" dirty="0"/>
          </a:p>
        </p:txBody>
      </p:sp>
      <p:sp>
        <p:nvSpPr>
          <p:cNvPr id="8" name="Targeta"/>
          <p:cNvSpPr/>
          <p:nvPr/>
        </p:nvSpPr>
        <p:spPr>
          <a:xfrm>
            <a:off x="4663440" y="137160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5F6FB"/>
          </a:solidFill>
          <a:ln w="9525">
            <a:solidFill>
              <a:srgbClr val="D9DCEC"/>
            </a:solidFill>
            <a:prstDash val="solid"/>
          </a:ln>
        </p:spPr>
      </p:sp>
      <p:sp>
        <p:nvSpPr>
          <p:cNvPr id="9" name="Cercle icona"/>
          <p:cNvSpPr/>
          <p:nvPr/>
        </p:nvSpPr>
        <p:spPr>
          <a:xfrm>
            <a:off x="4892040" y="1645920"/>
            <a:ext cx="685800" cy="685800"/>
          </a:xfrm>
          <a:prstGeom prst="ellipse">
            <a:avLst/>
          </a:prstGeom>
          <a:solidFill>
            <a:srgbClr val="2030FF"/>
          </a:solidFill>
          <a:ln w="12700">
            <a:solidFill>
              <a:srgbClr val="2030FF"/>
            </a:solidFill>
            <a:prstDash val="solid"/>
          </a:ln>
        </p:spPr>
      </p:sp>
      <p:pic>
        <p:nvPicPr>
          <p:cNvPr id="10" name="Image 1" descr="FaUser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206" y="1831086"/>
            <a:ext cx="315468" cy="3154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6276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soci, només el seu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19933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monitors, només els seus socis.</a:t>
            </a:r>
            <a:endParaRPr lang="en-US" sz="1300" dirty="0"/>
          </a:p>
        </p:txBody>
      </p:sp>
      <p:sp>
        <p:nvSpPr>
          <p:cNvPr id="13" name="Targeta"/>
          <p:cNvSpPr/>
          <p:nvPr/>
        </p:nvSpPr>
        <p:spPr>
          <a:xfrm>
            <a:off x="548640" y="278892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5F6FB"/>
          </a:solidFill>
          <a:ln w="9525">
            <a:solidFill>
              <a:srgbClr val="D9DCEC"/>
            </a:solidFill>
            <a:prstDash val="solid"/>
          </a:ln>
        </p:spPr>
      </p:sp>
      <p:sp>
        <p:nvSpPr>
          <p:cNvPr id="14" name="Cercle icona"/>
          <p:cNvSpPr/>
          <p:nvPr/>
        </p:nvSpPr>
        <p:spPr>
          <a:xfrm>
            <a:off x="777240" y="3063240"/>
            <a:ext cx="685800" cy="685800"/>
          </a:xfrm>
          <a:prstGeom prst="ellipse">
            <a:avLst/>
          </a:prstGeom>
          <a:solidFill>
            <a:srgbClr val="2030FF"/>
          </a:solidFill>
          <a:ln w="12700">
            <a:solidFill>
              <a:srgbClr val="2030FF"/>
            </a:solidFill>
            <a:prstDash val="solid"/>
          </a:ln>
        </p:spPr>
      </p:sp>
      <p:pic>
        <p:nvPicPr>
          <p:cNvPr id="15" name="Image 2" descr="FaCheckCirc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06" y="3248406"/>
            <a:ext cx="315468" cy="3154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0449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Consentiment explícit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34107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l'alta, amb data registrada.</a:t>
            </a:r>
            <a:endParaRPr lang="en-US" sz="1300" dirty="0"/>
          </a:p>
        </p:txBody>
      </p:sp>
      <p:sp>
        <p:nvSpPr>
          <p:cNvPr id="18" name="Targeta"/>
          <p:cNvSpPr/>
          <p:nvPr/>
        </p:nvSpPr>
        <p:spPr>
          <a:xfrm>
            <a:off x="4663440" y="278892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5F6FB"/>
          </a:solidFill>
          <a:ln w="9525">
            <a:solidFill>
              <a:srgbClr val="D9DCEC"/>
            </a:solidFill>
            <a:prstDash val="solid"/>
          </a:ln>
        </p:spPr>
      </p:sp>
      <p:sp>
        <p:nvSpPr>
          <p:cNvPr id="19" name="Cercle icona"/>
          <p:cNvSpPr/>
          <p:nvPr/>
        </p:nvSpPr>
        <p:spPr>
          <a:xfrm>
            <a:off x="4892040" y="3063240"/>
            <a:ext cx="685800" cy="685800"/>
          </a:xfrm>
          <a:prstGeom prst="ellipse">
            <a:avLst/>
          </a:prstGeom>
          <a:solidFill>
            <a:srgbClr val="2030FF"/>
          </a:solidFill>
          <a:ln w="12700">
            <a:solidFill>
              <a:srgbClr val="2030FF"/>
            </a:solidFill>
            <a:prstDash val="solid"/>
          </a:ln>
        </p:spPr>
      </p:sp>
      <p:pic>
        <p:nvPicPr>
          <p:cNvPr id="20" name="Image 3" descr="FaFileExpo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7206" y="3248406"/>
            <a:ext cx="315468" cy="3154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60720" y="30449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Exportar i esborrar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760720" y="34107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soci descarrega les seves dades o elimina el compte.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4343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textos legals actuals són un esborrany: caldrà una revisió professional abans d'usar dades reals.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Què inclou i què no</a:t>
            </a:r>
            <a:endParaRPr lang="en-US" sz="3200" dirty="0"/>
          </a:p>
        </p:txBody>
      </p:sp>
      <p:sp>
        <p:nvSpPr>
          <p:cNvPr id="3" name="Targeta inclou"/>
          <p:cNvSpPr/>
          <p:nvPr/>
        </p:nvSpPr>
        <p:spPr>
          <a:xfrm>
            <a:off x="548640" y="132588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9DC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Inclou</a:t>
            </a:r>
            <a:endParaRPr lang="en-US" sz="2000" dirty="0"/>
          </a:p>
        </p:txBody>
      </p:sp>
      <p:pic>
        <p:nvPicPr>
          <p:cNvPr id="5" name="Image 0" descr="Inclò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299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del soci instal·lable</a:t>
            </a:r>
            <a:endParaRPr lang="en-US" sz="1400" dirty="0"/>
          </a:p>
        </p:txBody>
      </p:sp>
      <p:pic>
        <p:nvPicPr>
          <p:cNvPr id="7" name="Image 1" descr="Inclò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8716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Panell del monitor i administració</a:t>
            </a:r>
            <a:endParaRPr lang="en-US" sz="1400" dirty="0"/>
          </a:p>
        </p:txBody>
      </p:sp>
      <p:pic>
        <p:nvPicPr>
          <p:cNvPr id="9" name="Image 2" descr="Inclò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4436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8872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108 exercicis i 5 plantilles</a:t>
            </a:r>
            <a:endParaRPr lang="en-US" sz="1400" dirty="0"/>
          </a:p>
        </p:txBody>
      </p:sp>
      <p:pic>
        <p:nvPicPr>
          <p:cNvPr id="11" name="Image 3" descr="Inclò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01568"/>
            <a:ext cx="237744" cy="23774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8872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Català i castellà, mode clar i fosc</a:t>
            </a:r>
            <a:endParaRPr lang="en-US" sz="1400" dirty="0"/>
          </a:p>
        </p:txBody>
      </p:sp>
      <p:pic>
        <p:nvPicPr>
          <p:cNvPr id="13" name="Image 4" descr="Inclò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58768"/>
            <a:ext cx="237744" cy="23774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18872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Funcionament sense cobertura</a:t>
            </a:r>
            <a:endParaRPr lang="en-US" sz="1400" dirty="0"/>
          </a:p>
        </p:txBody>
      </p:sp>
      <p:sp>
        <p:nvSpPr>
          <p:cNvPr id="15" name="Targeta no inclou"/>
          <p:cNvSpPr/>
          <p:nvPr/>
        </p:nvSpPr>
        <p:spPr>
          <a:xfrm>
            <a:off x="4663440" y="132588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9DCEC"/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493776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32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inclou (de moment)</a:t>
            </a:r>
            <a:endParaRPr lang="en-US" sz="2000" dirty="0"/>
          </a:p>
        </p:txBody>
      </p:sp>
      <p:pic>
        <p:nvPicPr>
          <p:cNvPr id="17" name="Image 5" descr="No inclò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029968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530352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Pagaments i quotes</a:t>
            </a:r>
            <a:endParaRPr lang="en-US" sz="1400" dirty="0"/>
          </a:p>
        </p:txBody>
      </p:sp>
      <p:pic>
        <p:nvPicPr>
          <p:cNvPr id="19" name="Image 6" descr="No inclò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487168"/>
            <a:ext cx="237744" cy="237744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530352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classes</a:t>
            </a:r>
            <a:endParaRPr lang="en-US" sz="1400" dirty="0"/>
          </a:p>
        </p:txBody>
      </p:sp>
      <p:pic>
        <p:nvPicPr>
          <p:cNvPr id="21" name="Image 7" descr="No inclò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944368"/>
            <a:ext cx="237744" cy="237744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530352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d'accés / torn</a:t>
            </a:r>
            <a:endParaRPr lang="en-US" sz="1400" dirty="0"/>
          </a:p>
        </p:txBody>
      </p:sp>
      <p:pic>
        <p:nvPicPr>
          <p:cNvPr id="23" name="Image 8" descr="No inclò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401568"/>
            <a:ext cx="237744" cy="237744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530352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 amb Poliwin</a:t>
            </a:r>
            <a:endParaRPr lang="en-US" sz="1400" dirty="0"/>
          </a:p>
        </p:txBody>
      </p:sp>
      <p:sp>
        <p:nvSpPr>
          <p:cNvPr id="25" name="Text 14"/>
          <p:cNvSpPr txBox="1"/>
          <p:nvPr/>
        </p:nvSpPr>
        <p:spPr>
          <a:xfrm>
            <a:off x="4937760" y="38404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enllaça a la zona de reserves actual del club. L'arquitectura està preparada per afegir-ho més endavant.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Posada en marxa en 4 setmanes</a:t>
            </a:r>
            <a:endParaRPr lang="en-US" sz="3200" dirty="0"/>
          </a:p>
        </p:txBody>
      </p:sp>
      <p:sp>
        <p:nvSpPr>
          <p:cNvPr id="3" name="Línia temps"/>
          <p:cNvSpPr/>
          <p:nvPr/>
        </p:nvSpPr>
        <p:spPr>
          <a:xfrm>
            <a:off x="1005840" y="1965960"/>
            <a:ext cx="7132320" cy="0"/>
          </a:xfrm>
          <a:prstGeom prst="line">
            <a:avLst/>
          </a:prstGeom>
          <a:noFill/>
          <a:ln w="25400">
            <a:solidFill>
              <a:srgbClr val="D9DCEC"/>
            </a:solidFill>
            <a:prstDash val="solid"/>
          </a:ln>
        </p:spPr>
      </p:sp>
      <p:sp>
        <p:nvSpPr>
          <p:cNvPr id="4" name="Fita"/>
          <p:cNvSpPr/>
          <p:nvPr/>
        </p:nvSpPr>
        <p:spPr>
          <a:xfrm>
            <a:off x="1097280" y="1645920"/>
            <a:ext cx="640080" cy="640080"/>
          </a:xfrm>
          <a:prstGeom prst="ellipse">
            <a:avLst/>
          </a:prstGeom>
          <a:solidFill>
            <a:srgbClr val="2030F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3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Setmana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Comptes i legal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2004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del club als proveïdors i revisió legal dels textos.</a:t>
            </a:r>
            <a:endParaRPr lang="en-US" sz="1300" dirty="0"/>
          </a:p>
        </p:txBody>
      </p:sp>
      <p:sp>
        <p:nvSpPr>
          <p:cNvPr id="9" name="Fita"/>
          <p:cNvSpPr/>
          <p:nvPr/>
        </p:nvSpPr>
        <p:spPr>
          <a:xfrm>
            <a:off x="3200400" y="1645920"/>
            <a:ext cx="640080" cy="640080"/>
          </a:xfrm>
          <a:prstGeom prst="ellipse">
            <a:avLst/>
          </a:prstGeom>
          <a:solidFill>
            <a:srgbClr val="2030F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514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3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Setmana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Contingut propi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32004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Exercicis, plantilles, logo i colors oficials del club.</a:t>
            </a:r>
            <a:endParaRPr lang="en-US" sz="1300" dirty="0"/>
          </a:p>
        </p:txBody>
      </p:sp>
      <p:sp>
        <p:nvSpPr>
          <p:cNvPr id="14" name="Fita"/>
          <p:cNvSpPr/>
          <p:nvPr/>
        </p:nvSpPr>
        <p:spPr>
          <a:xfrm>
            <a:off x="5303520" y="1645920"/>
            <a:ext cx="640080" cy="640080"/>
          </a:xfrm>
          <a:prstGeom prst="ellipse">
            <a:avLst/>
          </a:prstGeom>
          <a:solidFill>
            <a:srgbClr val="2030F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514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3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Setmana 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Formació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2004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Sessió pràctica amb els monitors de sala.</a:t>
            </a:r>
            <a:endParaRPr lang="en-US" sz="1300" dirty="0"/>
          </a:p>
        </p:txBody>
      </p:sp>
      <p:sp>
        <p:nvSpPr>
          <p:cNvPr id="19" name="Fita"/>
          <p:cNvSpPr/>
          <p:nvPr/>
        </p:nvSpPr>
        <p:spPr>
          <a:xfrm>
            <a:off x="7406640" y="1645920"/>
            <a:ext cx="640080" cy="640080"/>
          </a:xfrm>
          <a:prstGeom prst="ellipse">
            <a:avLst/>
          </a:prstGeom>
          <a:solidFill>
            <a:srgbClr val="2030F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2514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3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Setmana 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2004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grup reduït de socis; després, obertura a tothom.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</a:t>
            </a:r>
            <a:endParaRPr lang="en-US" sz="3200" dirty="0"/>
          </a:p>
        </p:txBody>
      </p:sp>
      <p:sp>
        <p:nvSpPr>
          <p:cNvPr id="3" name="Preu"/>
          <p:cNvSpPr/>
          <p:nvPr/>
        </p:nvSpPr>
        <p:spPr>
          <a:xfrm>
            <a:off x="548640" y="1280160"/>
            <a:ext cx="2560320" cy="3063240"/>
          </a:xfrm>
          <a:prstGeom prst="roundRect">
            <a:avLst>
              <a:gd name="adj" fmla="val 4286"/>
            </a:avLst>
          </a:prstGeom>
          <a:solidFill>
            <a:srgbClr val="2030FF"/>
          </a:solidFill>
          <a:ln w="9525">
            <a:solidFill>
              <a:srgbClr val="2030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Cercle icona"/>
          <p:cNvSpPr/>
          <p:nvPr/>
        </p:nvSpPr>
        <p:spPr>
          <a:xfrm>
            <a:off x="777240" y="1481328"/>
            <a:ext cx="548640" cy="548640"/>
          </a:xfrm>
          <a:prstGeom prst="ellipse">
            <a:avLst/>
          </a:prstGeom>
          <a:solidFill>
            <a:srgbClr val="F8F800"/>
          </a:solidFill>
          <a:ln w="12700">
            <a:solidFill>
              <a:srgbClr val="F8F800"/>
            </a:solidFill>
            <a:prstDash val="solid"/>
          </a:ln>
        </p:spPr>
      </p:sp>
      <p:pic>
        <p:nvPicPr>
          <p:cNvPr id="5" name="Image 0" descr="FaRock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629461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727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Implantació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2.500 €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 únic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004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Personalització, càrrega de contingut, formació i posada en marxa.</a:t>
            </a:r>
            <a:endParaRPr lang="en-US" sz="1300" dirty="0"/>
          </a:p>
        </p:txBody>
      </p:sp>
      <p:sp>
        <p:nvSpPr>
          <p:cNvPr id="10" name="Preu"/>
          <p:cNvSpPr/>
          <p:nvPr/>
        </p:nvSpPr>
        <p:spPr>
          <a:xfrm>
            <a:off x="3337560" y="1280160"/>
            <a:ext cx="2560320" cy="3063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9DC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Cercle icona"/>
          <p:cNvSpPr/>
          <p:nvPr/>
        </p:nvSpPr>
        <p:spPr>
          <a:xfrm>
            <a:off x="3566160" y="1481328"/>
            <a:ext cx="548640" cy="548640"/>
          </a:xfrm>
          <a:prstGeom prst="ellipse">
            <a:avLst/>
          </a:prstGeom>
          <a:solidFill>
            <a:srgbClr val="E6E8FF"/>
          </a:solidFill>
          <a:ln w="12700">
            <a:solidFill>
              <a:srgbClr val="E6E8FF"/>
            </a:solidFill>
            <a:prstDash val="solid"/>
          </a:ln>
        </p:spPr>
      </p:sp>
      <p:pic>
        <p:nvPicPr>
          <p:cNvPr id="12" name="Image 1" descr="FaToo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293" y="1629461"/>
            <a:ext cx="252374" cy="2523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51960" y="15727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Manteniment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03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150 €</a:t>
            </a:r>
            <a:endParaRPr lang="en-US" sz="340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5 mesos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566160" y="32004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Vigilància del servei, avisos d'incidències i petites correccions.</a:t>
            </a:r>
            <a:endParaRPr lang="en-US" sz="1300" dirty="0"/>
          </a:p>
        </p:txBody>
      </p:sp>
      <p:sp>
        <p:nvSpPr>
          <p:cNvPr id="17" name="Preu"/>
          <p:cNvSpPr/>
          <p:nvPr/>
        </p:nvSpPr>
        <p:spPr>
          <a:xfrm>
            <a:off x="6126480" y="1280160"/>
            <a:ext cx="2560320" cy="3063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9DC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Cercle icona"/>
          <p:cNvSpPr/>
          <p:nvPr/>
        </p:nvSpPr>
        <p:spPr>
          <a:xfrm>
            <a:off x="6355080" y="1481328"/>
            <a:ext cx="548640" cy="548640"/>
          </a:xfrm>
          <a:prstGeom prst="ellipse">
            <a:avLst/>
          </a:prstGeom>
          <a:solidFill>
            <a:srgbClr val="E6E8FF"/>
          </a:solidFill>
          <a:ln w="12700">
            <a:solidFill>
              <a:srgbClr val="E6E8FF"/>
            </a:solidFill>
            <a:prstDash val="solid"/>
          </a:ln>
        </p:spPr>
      </p:sp>
      <p:pic>
        <p:nvPicPr>
          <p:cNvPr id="19" name="Image 2" descr="FaServ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213" y="1629461"/>
            <a:ext cx="252374" cy="25237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040880" y="15727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Serveis al club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355080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3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45 $/mes</a:t>
            </a:r>
            <a:endParaRPr lang="en-US" sz="2800" dirty="0"/>
          </a:p>
        </p:txBody>
      </p:sp>
      <p:sp>
        <p:nvSpPr>
          <p:cNvPr id="22" name="Text 17"/>
          <p:cNvSpPr txBox="1"/>
          <p:nvPr/>
        </p:nvSpPr>
        <p:spPr>
          <a:xfrm>
            <a:off x="635508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càrrec del club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355080" y="32004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(Vercel Pro) i base de dades (Supabase Pro) al nom del club.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5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 no inclòs. La revisió legal del RGPD (aprox. 300–800 €) la contracta el club. Funcions noves o formació addicional, a part.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Propers passos</a:t>
            </a:r>
            <a:endParaRPr lang="en-US" sz="3200" dirty="0"/>
          </a:p>
        </p:txBody>
      </p:sp>
      <p:sp>
        <p:nvSpPr>
          <p:cNvPr id="3" name="Número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rgbClr val="F8F800"/>
          </a:solidFill>
          <a:ln w="12700">
            <a:solidFill>
              <a:srgbClr val="F8F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4630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si fem un pilot amb el club</a:t>
            </a:r>
            <a:endParaRPr lang="en-US" sz="1800" dirty="0"/>
          </a:p>
        </p:txBody>
      </p:sp>
      <p:sp>
        <p:nvSpPr>
          <p:cNvPr id="6" name="Número"/>
          <p:cNvSpPr/>
          <p:nvPr/>
        </p:nvSpPr>
        <p:spPr>
          <a:xfrm>
            <a:off x="548640" y="2331720"/>
            <a:ext cx="594360" cy="594360"/>
          </a:xfrm>
          <a:prstGeom prst="ellipse">
            <a:avLst/>
          </a:prstGeom>
          <a:solidFill>
            <a:srgbClr val="F8F800"/>
          </a:solidFill>
          <a:ln w="12700">
            <a:solidFill>
              <a:srgbClr val="F8F8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3317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Signar la proposta i crear els comptes del club</a:t>
            </a:r>
            <a:endParaRPr lang="en-US" sz="1800" dirty="0"/>
          </a:p>
        </p:txBody>
      </p:sp>
      <p:sp>
        <p:nvSpPr>
          <p:cNvPr id="9" name="Número"/>
          <p:cNvSpPr/>
          <p:nvPr/>
        </p:nvSpPr>
        <p:spPr>
          <a:xfrm>
            <a:off x="548640" y="3200400"/>
            <a:ext cx="594360" cy="594360"/>
          </a:xfrm>
          <a:prstGeom prst="ellipse">
            <a:avLst/>
          </a:prstGeom>
          <a:solidFill>
            <a:srgbClr val="F8F800"/>
          </a:solidFill>
          <a:ln w="12700">
            <a:solidFill>
              <a:srgbClr val="F8F8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2004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 legal i càrrega del contingut propi</a:t>
            </a:r>
            <a:endParaRPr lang="en-US" sz="1800" dirty="0"/>
          </a:p>
        </p:txBody>
      </p:sp>
      <p:pic>
        <p:nvPicPr>
          <p:cNvPr id="12" name="Image 0" descr="Escut del C.P. Santjoanen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417320"/>
            <a:ext cx="1920240" cy="192024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Contacte: [nom i cognoms] · [correu] · [telèfon]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CPS Fit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CPS Fit · Proposta per al C.P. Santjoanenc</dc:title>
  <dc:subject>PptxGenJS Presentation</dc:subject>
  <dc:creator>CPS Fit</dc:creator>
  <cp:lastModifiedBy>CPS Fit</cp:lastModifiedBy>
  <cp:revision>1</cp:revision>
  <dcterms:created xsi:type="dcterms:W3CDTF">2026-10-07T08:56:53Z</dcterms:created>
  <dcterms:modified xsi:type="dcterms:W3CDTF">2026-10-07T08:56:53Z</dcterms:modified>
</cp:coreProperties>
</file>